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 a todos os membros da banca examinadora, à minha orientadora Prof.ª Dr.ª Nila Cecília e aos presentes. Meu nome é Gabriel Marques de Andrade e hoje apresento meu Trabalho de Conclusão de Curso sobre a otimização estrutural e dinâmica de chassis CubeSat 1U via metamateriais auxéticos e inteligência computacional acelerada por física.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consolidação do padrão CubeSat permitiu que pequenas instituições colocassem cargas úteis no espaço. Contudo, a estrutura convencional consome uma fração expressiva do peso total. O mecanismo de mola do P-POD exige trilhos maciços, proibindo alívios externos. Portanto, a inovação precisa focar exclusivamente nos painéis internos.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lançamento impõe um ambiente dinâmico brutal de 14.1 Grms. Em estruturas convencionais, quase 85% dessa vibração chega aos eletrônicos. Aliviar o alumínio comum torna o satélite flexível e viola o piso de 100 Hz da NASA. Nosso objetivo é resolver esse trade-off usando células auxéticas que absorvem vibrações passivamente.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Adotamos uma rota 100% computacional de alta fidelidade baseada na liga espacial AlSi10Mg. Nossos quatro pilares cobrem: modelagem DfAM para manufatura aditiva, geração de base de dados no Ansys, treinamento de modelo neural informado por física e orquestração evolutiva com NSGA-II e TOPSIS.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célula reentrante possui geometria em gravata-borboleta. Sob compressão, as costelas oblíquas flexionam para fora, expandindo transversalmente. O modelo clássico de Gibson-Ashby rege a escala do módulo de elasticidade e tensão de escoamento com a densidade relativa celular, fornecendo a âncora física que usamos na função de perda da rede neural.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qualificação é rigorosa: exigimos frequência fundamental acima de 100 Hz, margem de segurança positiva a 3-sigma sob escoamento com FS de 1.25 e dano acumulado de fadiga vibracional pelo método de Steinberg inferior a 0.25, o que garante uma sobrevida estrutural de quatro vezes o tempo de qualificação de voo.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Projetar para manufatura aditiva metálica exige portões estritos. Células internas não admitem suportes removíveis; portanto, o ângulo autossuportado precisa ser superior a 35 graus. A espessura mínima de 0.5 mm garante fusão sem vazios, e canais desobstruídos acima de 1.5 mm garantem a drenagem total do pó residual de alumínio.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Exploramos o espaço de projeto com 250 amostras via Hipercubo Latino. A triagem prévia pelos portões DfAM descartou de imediato 69 configurações geometricamente inviáveis. As 181 amostras aprovadas seguiram para o laço de simulação em elementos finitos.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simulações automatizadas no Ansys MAPDL utilizaram elementos tetraédricos de alta ordem SOLID187. A base revelou frequências fundamentais médias de 746 Hz e atenuação média superior a 76%. Porém, cada simulação leva até dois minutos. Executar um laço genético com milhares de pontos levaria semanas.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substituir o Ansys com extrema velocidade e confiabilidade, desenvolvemos a Physics-Guided ResNet. Sua função de perda penaliza desvios da lei de Gibson-Ashby e impõe monotonicidade física. Isso impede que a rede gere predições absurdas onde um aumento de material reduzisse a rigidez.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conjunto de teste cego, a rede atingiu R2 médio de 98.74% e NRMSE de apenas 2%. Em tensão e transmissibilidade, o R2 superou 99.8%. A latência de inferência foi de 0.4 milissegundos por avaliação — acelerando o cálculo em mais de 250.000 vezes em relação ao solver de elementos finitos.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Implementamos uma máquina de estados finitos determinística com o LangGraph. O fluxo descarta antecipadamente qualquer candidato não-conforme no portão DfAM ou nos limites da NASA GEVS. Apenas designs estritamente qualificados avançam para validação de alta ordem, economizando computação e garantindo auditoria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Acoplamos o modelo neural ao algoritmo genético NSGA-II com dominação restrita de Deb. A campanha de 10.000 avaliações foi executada em apenas 4.82 segundos. Se tivéssemos feito essa busca diretamente no Ansys, levaríamos quase 12 dias de computação contínua.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fronteira de Pareto evidencia 100 soluções factíveis divididas em dois regimes claros: estruturas ultraleves de 100 gramas com amortecimento moderado, e estruturas de ultra-atenuação com T abaixo de 0.18, mas ligeiramente mais pesadas. Para selecionar o ponto ótimo para voo espacial, aplicamos o método multicritério TOPSIS.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Pelo método TOPSIS, ponderamos 35% de peso para massa, 30% para transmissibilidade e 35% para rigidez e integridade. O Design #28 foi destacado com folga. Sua geometria possui espessura de 0.61 mm e coeficiente de Poisson de menos 13.81, gerando alta capacidade de blindagem contra choques dinâmicos.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Reanalisamos o Design #28 em alta fidelidade no Ansys MAPDL. A concordância foi extraordinária: erro de 0.99% em tensão e 0.008% em transmissibilidade. A frequência real foi de 579 Hz, muito acima dos 100 Hz exigidos, e o dano de fadiga de 0.046 atesta sobrevida de mais de cinco vezes o tempo de teste do foguete.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confronto direto com o chassi convencional consolida as vantagens: reduzimos a massa em 62.5%, liberando quase 200 gramas para instrumentação científica. Atenuamos as vibrações em 76.5%, blindando os sensores a bordo com 12.6 dB de isolamento passivo, e ainda aumentamos a frequência natural em 13.2%.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conclusão, comprovamos que a manufatura aditiva aliada ao deep learning guiado por física viabiliza satélites substancialmente mais leves e dinamicamente protegidos. Atingimos todas as metas de projeto, aceleramos a busca evolutiva e garantimos a qualificação estrutural perante a NASA.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continuidade, propomos: testes físicos em mesa vibratória com protótipos impressos em AlSi10Mg; ensaios em câmara de termovácuo TVAC para avaliar a condutividade anisotrópica do núcleo auxético; e expansão da metodologia para plataformas maiores de 3U, 6U e 12U com densidade funcionalmente graduada.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Gostaria de agradecer sinceramente à UESC, ao corpo docente e em especial à minha orientadora Prof.ª Dr.ª Nila Cecília pelo apoio e rigor científico. Agradeço também aos membros da banca examinadora e coloco-me à inteira disposição para a arguição.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1">
                <a:solidFill>
                  <a:srgbClr val="E5A93C"/>
                </a:solidFill>
                <a:latin typeface="Calibri"/>
              </a:defRPr>
            </a:pPr>
            <a:r>
              <a:t>UNIVERSIDADE ESTADUAL DE SANTA CRUZ (UESC)</a:t>
            </a:r>
            <a:br/>
            <a:r>
              <a:t>COLEGIADO DE ENGENHARIA MECÂNICA</a:t>
            </a:r>
          </a:p>
          <a:p>
            <a:pPr>
              <a:spcAft>
                <a:spcPts val="15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CubeSat em Baixa Órbita: Otimização de Volume e Geometria para Maximização de Desempenho Estrutural e Funcional</a:t>
            </a:r>
          </a:p>
          <a:p>
            <a:pPr>
              <a:defRPr sz="1700">
                <a:solidFill>
                  <a:srgbClr val="E5A93C"/>
                </a:solidFill>
                <a:latin typeface="Calibri"/>
              </a:defRPr>
            </a:pPr>
            <a:r>
              <a:t>Metamateriais Auxéticos e Aprendizado Profundo Guiado por Física (Physics-Guided ResNet)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5488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Autor: Gabriel Marques de Andrade   |   Orientadora: Prof.ª Dr.ª Nila Cecília de Faria Lopes Medeiros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Trabalho de Conclusão de Curso (TCC) -- Ilhéus, Bahia -- 2027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Contextualização: A Era New Space e os Limites dos CubeSats 1U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Crescimento de constelações LEO e restrições geométricas severas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Padrão CalPoly CDS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Formato 1U: 100 x 100 x 113.5 mm.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Orçamento de massa: 1.33 kg a 2.0 kg.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Estruturas monolíticas consomem até 35% da massa útil da plataforma.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Restrição de volume severa para eletrônicos, baterias e payloads científicos.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Interface do Lançador P-POD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Poly-Picosatellite Orbital Deployer (P-POD).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Ejeção cinemática por mola axial.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Contato metal-metal em 4 trilhos guia.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Impõe arestas maciças (8.5 x 8.5 mm) sem protuberâncias ou alívios externos.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A Oportunidade Metamaterial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Impossível aliviar trilhos externos.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Inovação concentrada nos painéis internos.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Manufatura Aditiva Metálica (L-PBF) em liga AlSi10Mg viabiliza células celulares complexas.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Alívio de massa com amortecimento de choques de ejeção.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O Conflito de Engenharia: Rigidez, Massa e Cargas de Lançamento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Severidade dinâmica da norma NASA GEVS vs. integridade estrutural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Ambiente Dinâmico Severo (NASA GEVS)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Vibração Aleatória Estocástica: 14.1 Grms.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Faixa de frequência: 20 a 2000 Hz.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Duração do teste: 120 s por eixo ortogonal.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Transmissibilidade em alumínio sólido ~ 85%.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Risco crítico de falha por fadiga em juntas de solda de PCBs (padrão PC/104).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O Dilema Tradicional de Projeto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Alívio convencional de espessura reduz rigidez modal fundamental (f1 &lt; 100 Hz).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Risco de acoplamento ressonante 'pogo' com os modos acústicos do veículo lançador.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Amortecedores elastoméricos adicionam peso e sofrem outgassing (desgasificação em vácuo).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Desafio: Aliviar &gt; 60% de massa e aumentar rigidez modal, atenuando passivamente as vibrações.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Objetivos: Rota 100% Computacional de Alto Desempenho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Arquitetura preditiva e otimização sob normas espaciais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103327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Objetivo Geral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Desenvolver e validar um arcabouço computacional autônomo para projeto, aceleração neural e otimização multiobjetivo de chassi CubeSat 1U em liga AlSi10Mg (L-PBF) com painéis auxéticos reentrantes sob normas NASA GEVS.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246888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1. DfAM &amp; CAD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Parametrização 3D.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Sobressalto &gt;= 35°.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Parede t &gt;= 0.5 mm.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Despoeiramento desobstruído.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017520"/>
            <a:ext cx="246888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154679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2. Automação CAE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Ansys MAPDL batch.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Elementos SOLID187.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Block Lanczos modal.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Espectro PSD GEVS.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246888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79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3. Physics ResNet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Deep Learning com skip.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Perda Gibson-Ashby.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Monotonicidade física.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Latência sub-milissegundo.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017520"/>
            <a:ext cx="246888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154679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4. Multi-Agente &amp; NSGA-II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Máquina LangGraph.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10.000 avaliações.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Fronteira de Pareto.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Seleção TOPSIS de voo.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Fundamentação: Metamateriais Auxéticos e Leis de Escala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Cinemática de Poisson negativo e modelo constitutivo celular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Cinemática Auxética Reentrante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Coeficiente de Poisson efetivo negativo (nu_eff &lt; 0).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Rotação e flexão de costelas oblíquas e verticais.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Expansão lateral sob compressão axial.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Aumento da tenacidade à fratura e dissipação elástica.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Filtro mecânico passivo contra ondas de cisalhamento e choque.</a:t>
            </a:r>
          </a:p>
        </p:txBody>
      </p:sp>
      <p:pic>
        <p:nvPicPr>
          <p:cNvPr id="9" name="Picture 8" descr="auxetic_cell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212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Governança Normativa: Qualificação Espacial NASA GEVS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NASA GSFC-STD-7000A e metodologia de fadiga de 3 bandas de Steinberg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1. Rigidez Veicular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Requisito: f1 &gt;= 100.0 Hz.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Evita acoplamento ressonante dinâmico com modos de baixa frequência do foguete lançador.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Previne acelerações transientes 'pogo' catastróficas.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2. Margens de Segurança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Resposta estocástica a 3-sigma (99.73% de probabilidade).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Fator de segurança: FS_yield = 1.25.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Tensão admissível: sigma_adm = 184.0 MPa.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MS_yield = (sigma_adm / sigma_3sigma) - 1 &gt; 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3. Dano de Fadiga (Steinberg)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Método das 3 bandas gaussianas (1s, 2s, 3s).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Regra linear de Palmgren-Miner.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Critério NASA-HDBK-7005: D &lt;= 0.25.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Fator de segurança de vida de 4x sobre o teste de 120 segundos.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Restrições de Manufatura Aditiva Metálica (DfAM - LPBF)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Portões paramétricos para garantia de fabricabilidade em liga AlSi10Mg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Ângulo de Sobressalto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theta_overhang &gt;= 35°.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Elimina suportes internos inalcançáveis no núcleo auxético.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Evita acúmulo de calor e deformação térmica residual.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Reduz necessidade de pós-processamento mecânico.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Espessura de Costela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Espessura mínima: t &gt;= 0.50 mm (nominal &gt;= 0.60 mm).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Garante coalescência estável da poça de fusão laser.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Mitiga defeitos de falta de fusão (lack of fusion) e microporosidades.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Evacuação de Pó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Folga mínima desobstruída: gap &gt;= 1.50 mm.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Orifícios de drenagem: d_drain &gt;= 2.0 mm.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Previne aprisionamento de pó metálico não fundido (massa parasita oculta).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Amostragem do Espaço de Projeto: Hipercubo Latino (LHS)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250 amostras paramétricas para exploração elastodinâmica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Configuração do DoE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Amostragem por Hipercubo Latino (LHS).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Semente pseudoaleatória reprodutível (seed=42).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Espaço 4D viável: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Ângulo reentrante: theta in [50°, 85°]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Espessura de parede: t in [0.5, 1.8] mm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Comprimento da costela: l in [6.0, 15.0] mm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Altura vertical: h in [8.0, 20.0] mm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250 pontos gerados em doe_samples_input.csv.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Triagem Inicial DfAM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250 configurações submetidas aos portões DfAM.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181 amostras aprovadas (72.4% de taxa de viabilidade geométrica).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69 amostras rejeitadas precocemente por colapso de folga de pó ou sobressalto excessivo.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Economia imediata de esforço computacional antes da fase de elementos finitos.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Simulação Numérica de Alta Ordem: Ansys MAPDL Batch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Discretização com SOLID187, Block Lanczos e espectro estocástico PSD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Modelagem Numérica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Elementos tetraédricos quadráticos de 10 nós (SOLID187).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Mapeamento de tensões locais em entalhes celulares.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Análise modal pré-tensionada: Block Lanczos (MODOPT, LANB, 10).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Análise espectral PSD GEVS (14.1 Grms, zeta = 2.0%).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Runner batch resiliente com telemetria estruturada.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Estatísticas da Base CAE (250 Pontos)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Frequência f1: Média = 746.3 Hz (572.7 a 1205.9 Hz).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Desacoplamento perfeito sobre a restrição de 100 Hz.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Tensão 3-sigma média = 85.7 MPa (limite = 184 MPa).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Transmissibilidade média T = 0.233 (atenuação média &gt; 76%).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Dano de fadiga médio D = 0.0061 &lt;&lt; 0.25.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Tempo médio por simulação: 60 a 120 segundos.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Metamodelo Neural: Physics-Guided ResNet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Aprendizado residual profundo com função de perda composta informada por física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Arquitetura Deep Residual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Entrada 5D: [theta, t, l, h, rho_rel].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2 Blocos Residuais com conexões skip.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64 neurônios por camada, LayerNorm, SiLU.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Saída 4D: [f1, sigma_3sigma, Grms, T].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Elimina desvanecimento de gradiente.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Função de Perda Física Composta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L_total = L_MSE + lambda_phys * L_GA + lambda_mono * L_mono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L_GA: Penaliza desvio assintótico da lei de Gibson-Ashby (f1 proporcional a sqrt(rho_rel)).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L_mono: Penalização ReLU para assegurar monotonicidade estrita (densidade maior não pode reduzir rigidez).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Erradica alucinações e previsões não-físicas.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Desempenho da Rede: Paridade e Benchmarks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Acurácia superior a 98.7% e aceleração computacional de 250.000x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11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411480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Métricas no Teste Cego (N=50)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R2 Médio = 0.9874 (98.74% de acurácia).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NRMSE Médio = 2.07%.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R2 (f1) = 0.9543 | NRMSE = 5.68%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R2 (sigma_3sigma) = 0.9989 | NRMSE = 0.73%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R2 (Grms) = 0.9982 | NRMSE = 0.93%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R2 (T) = 0.9981 | NRMSE = 0.94%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Latência de Inferência: 0.4049 ms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(&gt; 2.400 avaliações / segundo).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Aceleração de ~250.000x frente ao FEA.</a:t>
            </a:r>
          </a:p>
        </p:txBody>
      </p:sp>
      <p:pic>
        <p:nvPicPr>
          <p:cNvPr id="9" name="Picture 8" descr="parity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5596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Orquestração Determinística via LangGraph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Máquina de estados fortemente tipada com triagem prévia automática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411480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Governança Multi-Agente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Contrato de estado unificado: CubeSatState.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Nós Especialistas: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CadDfamAgent (triagem 3D)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NeuralSurrogateAgent (inferência 0.4 ms)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GevsQualifierAgent (normas NASA)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GroundTruthFeaAgent (solver alta ordem)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Descarte precoce de candidatos inviáveis.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Trilha de auditoria cronológica UTC.</a:t>
            </a:r>
          </a:p>
        </p:txBody>
      </p:sp>
      <p:pic>
        <p:nvPicPr>
          <p:cNvPr id="9" name="Picture 8" descr="multi_agen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35490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Otimização Multiobjetivo: Algoritmo NSGA-II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Busca evolutiva de 10.000 avaliações com Deb's Constrained Domination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Formulação Multiobjetivo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Minimizar f1(x) = Massa Estrutural (kg)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Minimizar f2(x) = Transmissibilidade Dinâmica (T)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Sujeito a: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theta in [50°, 85°], t in [0.5, 1.8] mm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 in [6.0, 15.0] mm, h in [8.0, 20.0] mm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theta_overhang &gt;= 35° (DfAM)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 &gt;= 0.50 mm, gap &gt;= 1.50 mm (DfAM)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f1 &gt;= 100 Hz (NASA GEVS)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MS_yield &gt; 0 (NASA GEVS)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D_Steinberg &lt;= 0.25 (NASA-HDBK-7005)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Parâmetros e Performance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População = 100 indivíduos | Gerações = 100.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Total de avaliações = 10.000 candidatos.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Cruzamento SBX (eta_c=15, p_c=0.90).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Mutação Polinomial (eta_m=20, p_m=0.25).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Deb's Constrained Domination (inviáveis ordenados por violação de restrições).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Tempo Total de Execução: 4.82 segundos!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Equivalente no Ansys: ~277 horas ininterruptas.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Fronteira de Pareto e Trade-offs Estruturais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100 designs Pareto-ótimos factíveis mapeando o espaço de compromisso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411480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Análise dos Regimes Físicos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1. Regime Ultraleve (m &lt; 0.10 kg):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Células esbeltas (t ~ 0.50 mm).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Densidade relativa &lt; 10%.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Transmissibilidade T ~ 0.23 a 0.28.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Tensões 3-sigma próximas de 180 MPa.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2. Regime de Ultra-Atenuação (T &lt; 0.18):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Costelas espessas (t ~ 0.80 a 1.10 mm).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Ângulos reentrantes pronunciados (70°-80°).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Maximização do efeito auxético tridimensional.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Massa estrutural m ~ 0.14 a 0.16 kg.</a:t>
            </a:r>
          </a:p>
        </p:txBody>
      </p:sp>
      <p:pic>
        <p:nvPicPr>
          <p:cNvPr id="9" name="Picture 8" descr="pareto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309360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Tomada de Decisão Multicritério: TOPSIS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Eleição do Design de Voo Ótimo (#28) com equilíbrio de objetivos aeroespaciais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Ponderação Multicritério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Vetor de Pesos Aeroespacial: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w_m = 0.35 (Massa estrutural -- custo)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w_T = 0.30 (Transmissibilidade -- custo)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w_f1 = 0.15 (Frequência fundamental -- benefício)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w_sigma = 0.10 (Tensão 3-sigma -- custo)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w_D = 0.10 (Dano de fadiga -- custo)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Resultado TOPSIS: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Design #28 eleito como solução de maior proximidade relativa (C* = 0.814).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Geometria do Design #28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Ângulo reentrante: theta = 65.75°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Espessura de costela: t = 0.613 mm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Comprimento oblíquo: l = 8.50 mm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Altura vertical: h = 13.96 mm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Densidade relativa: rho_rel = 12.52%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Coeficiente de Poisson: nu_eff = -13.81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Comportamento fortemente auxético tridimensional proporcionando atenuação acústica passiva.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Validação Cruzada: FEA Ground Truth vs. ResNet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Confronto de alta fidelidade no Ansys MAPDL para o Design Ótimo 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Resposta Estrutural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Predição Neural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 Ground Truth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 Relativo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Limite NASA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Massa Total (kg)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0.1155 kg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0.1155 kg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&lt;= 0.350 kg (Aprovado)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Frequência Fundamental (f1)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642.38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579.62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+10.83%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&gt;= 100.0 Hz (Aprovado)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Pico de Tensão 3-sigma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168.57 MPa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166.91 MPa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+0.99%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&lt;= 184.0 MPa (Aprovado)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Aceleração na Carga Útil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2.814 Grms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2.816 Grms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&lt;= 14.1 Grms (Aprovado)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Transmissibilidade (T)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0.19973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0.19974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-0.008%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&lt; 1.00 (Aprovado)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Margem de Segurança (MS)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+0.102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-9.80%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&gt; 0.00 (Aprovado)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Dano de Fadiga (Steinberg)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0.0543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0.0458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+18.56%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&lt;= 0.25 (Aprovado)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Benchmark: Chassi Monolítico vs. Chassi Auxético Ótimo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Salto de desempenho aeroespacial e eficiência estrutural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Massa Estrutural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Baseline Sólido: 0.308 kg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Chassi Auxético: 0.116 kg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REDUÇÃO DE 62.49%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192 gramas economizados.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Massa convertível em baterias adicionais, módulos de propulsão ou sensores ópticos de maior abertura.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Isolamento Vibratório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Transmissibilidade: 0.850 -&gt; 0.1997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ATENUAÇÃO DE 76.50%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(12.6 dB de atenuação)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Aceleração na carga útil cai de 12.0 Grms para apenas 2.82 Grms.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Elimina necessidade de coxins e isoladores viscoelásticos externos.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Rigidez &amp; Fadiga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Frequência fundamental aumenta de 512.0 Hz para 579.62 Hz (+13.20%).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Rigidez dinâmica específica (f1/m) amplamente superior.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MS_yield = +0.10 (Plenamente elástico).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Dano D = 0.046 (Qualificado NASA).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Conclusões e Principais Contribuições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Validação completa do arcabouço computacional autônomo de alta fidelidade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Metas Alcançadas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1. Concepção e parametrização DfAM de chassi auxético 1U em liga aeroespacial AlSi10Mg.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2. Redução de 62.49% na massa estrutural mantendo conformidade CalPoly CDS.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3. Atenuação dinâmica de 76.50% na carga útil sem amortecedores externos.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4. Qualificação estrutural plena sob as normas NASA GSFC-STD-7000A e NASA-HDBK-7005.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5. Metamodelo neural acelerou o laço genético em mais de 200.000x.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Contribuições Técnicas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Formulação Physics-Guided ResNet: perda informada por Gibson-Ashby e monotonicidade.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Governança determinística LangGraph: auditoria UTC e triagem de descarte precoce.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Preservação de arestas monolíticas maciças (8.5 x 8.5 mm) para interface P-POD.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Reprodutibilidade científica integral: 53 testes automatizados (100% de aprovação).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E5A93C"/>
          </a:solidFill>
          <a:ln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Trabalhos Futuros e Próximos Passos</a:t>
            </a:r>
          </a:p>
          <a:p>
            <a:pPr>
              <a:defRPr sz="1200">
                <a:solidFill>
                  <a:srgbClr val="E5A93C"/>
                </a:solidFill>
                <a:latin typeface="Calibri"/>
              </a:defRPr>
            </a:pPr>
            <a:r>
              <a:t>Extensões experimentais e escalonamento para envelopes espaciais estendidos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UESC | TCC Engenharia Mecânica -- Gabriel Marques de Andrade | Orientadora: Prof.ª Dr.ª Nila C. F. L. Medeiros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1. Validação Experimental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Manufatura física de espécimes L-PBF em máquina industrial com pó AlSi10Mg.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Ensaios dinâmicos em mesa vibratória triaxial (shaker table).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Confronto espectral direto das curvas de transmissibilidade física e numérica.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2. Ciclagem Térmica (TVAC)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Ensaio em câmara de termovácuo (-40°C a +85°C em 10^-6 Torr).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Investigação da condutividade térmica anisotrópica do núcleo celular.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Avaliação de dissipação de calor de eletrônicos durante eclipses orbitais.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19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Calibri"/>
              </a:defRPr>
            </a:pPr>
            <a:r>
              <a:t>3. Escalonamento 3U / 6U / 12U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Extensão da parametrização para envelopes maiores.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Núcleos auxéticos com Gradação Funcional de Densidade (FGL) tridimensional contínua.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Avaliação de degradação ambiental por oxigênio atômico (AO) em LEO.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D"/>
          </a:solidFill>
          <a:ln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00"/>
              </a:spcAft>
              <a:defRPr sz="2800" b="1">
                <a:solidFill>
                  <a:srgbClr val="E5A93C"/>
                </a:solidFill>
                <a:latin typeface="Calibri"/>
              </a:defRPr>
            </a:pPr>
            <a:r>
              <a:t>MUITO OBRIGADO PELA ATENÇÃO!</a:t>
            </a:r>
          </a:p>
          <a:p>
            <a:pPr algn="ctr">
              <a:spcAft>
                <a:spcPts val="25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Agradecimentos especiais à Universidade Estadual de Santa Cruz (UESC), ao Colegiado de Engenharia Mecânica e à orientadora Prof.ª Dr.ª Nila Cecília de Faria Lopes Medeiros.</a:t>
            </a:r>
          </a:p>
          <a:p>
            <a:pPr algn="ctr">
              <a:defRPr sz="1300">
                <a:solidFill>
                  <a:srgbClr val="E5A93C"/>
                </a:solidFill>
                <a:latin typeface="Calibri"/>
              </a:defRPr>
            </a:pPr>
            <a:r>
              <a:t>Repositório do Projeto: https://github.com/Marques-svnt/tcc-cubesats</a:t>
            </a:r>
            <a:br/>
            <a:r>
              <a:t>Estamos à disposição para a arguição e considerações da banca examinadora.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